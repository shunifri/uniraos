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pic>
        <p:nvPicPr>
          <p:cNvPr id="8" name="图片 7" descr="新联鹏软件logo_150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532110" y="176530"/>
            <a:ext cx="1428750" cy="228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3A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572000"/>
            <a:ext cx="5486400" cy="5486400"/>
          </a:xfrm>
          <a:prstGeom prst="ellipse">
            <a:avLst/>
          </a:prstGeom>
          <a:solidFill>
            <a:srgbClr val="00E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微软雅黑"/>
              </a:defRPr>
            </a:pPr>
            <a:r>
              <a:t>RAOS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677FF"/>
                </a:solidFill>
                <a:latin typeface="微软雅黑"/>
              </a:defRPr>
            </a:pPr>
            <a:r>
              <a:t>Recursive Agent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5C9D0"/>
                </a:solidFill>
                <a:latin typeface="微软雅黑"/>
              </a:defRPr>
            </a:pPr>
            <a:r>
              <a:t>递归式智能体操作系统 — 企业级AI Agent基础设施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F98"/>
                </a:solidFill>
                <a:latin typeface="微软雅黑"/>
              </a:defRPr>
            </a:pPr>
            <a:r>
              <a:rPr lang="zh-CN"/>
              <a:t>联鹏应用软件（上海）有限公司</a:t>
            </a:r>
            <a:r>
              <a:rPr lang="en-US"/>
              <a:t>   unifri.com</a:t>
            </a: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29200" y="5760720"/>
            <a:ext cx="2133295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图片 9" descr="新联鹏软件logo_150"/>
          <p:cNvPicPr>
            <a:picLocks noChangeAspect="1"/>
          </p:cNvPicPr>
          <p:nvPr userDrawn="1"/>
        </p:nvPicPr>
        <p:blipFill>
          <a:blip r:embed="rId1">
            <a:duotone>
              <a:prstClr val="black"/>
              <a:schemeClr val="bg1">
                <a:tint val="45000"/>
                <a:satMod val="400000"/>
              </a:schemeClr>
            </a:duotone>
            <a:lum bright="100000"/>
          </a:blip>
          <a:stretch>
            <a:fillRect/>
          </a:stretch>
        </p:blipFill>
        <p:spPr>
          <a:xfrm>
            <a:off x="10052050" y="254000"/>
            <a:ext cx="1841500" cy="294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联鹏软件 — RAOS 的缔造者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C9D0"/>
                </a:solidFill>
                <a:latin typeface="微软雅黑"/>
              </a:defRPr>
            </a:pPr>
            <a:r>
              <a:t>联鹏应用软件（上海）有限公司 | 国家级高新技术企业 | 深耕数智化转型十余年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31520" y="1737360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91440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全栈技术能力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14400" y="2240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覆盖基础设施→数据中台→AI中台→场景应用的四层技术栈，具备从底层算力到上层应用的全链路交付能力</a:t>
            </a: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6217920" y="1737360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400800" y="1874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AI 技术深度</a:t>
            </a: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6400800" y="22402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掌握 RAG 检索增强、模型微调（LoRA/适配器）、Agentic 架构等前沿技术，拥有48项软件著作权、2项发明专利</a:t>
            </a:r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731520" y="4114800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91440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工程交付实力</a:t>
            </a: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914400" y="46177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服务100+企业客户，覆盖25万+终端用户，通过 ISO 质量/信息安全/IT服务三大管理体系认证</a:t>
            </a:r>
          </a:p>
        </p:txBody>
      </p:sp>
      <p:sp>
        <p:nvSpPr>
          <p:cNvPr id="15" name="Rounded Rectangle 14"/>
          <p:cNvSpPr/>
          <p:nvPr>
            <p:custDataLst>
              <p:tags r:id="rId10"/>
            </p:custDataLst>
          </p:nvPr>
        </p:nvSpPr>
        <p:spPr>
          <a:xfrm>
            <a:off x="6217920" y="4114800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6400800" y="4251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产品化经验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400800" y="46177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从传统信息化到 AI 原生应用的完整产品演进路径，擅长将前沿技术转化为稳定可靠的企业级产品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677FF"/>
                </a:solidFill>
                <a:latin typeface="微软雅黑"/>
              </a:defRPr>
            </a:pPr>
            <a:r>
              <a:t>RAOS 是联鹏软件十余年技术积累与 AI 前沿探索的集大成之作，专为企业级 Agent 落地而生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当前 AI Agent 开发的四大痛点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71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编排僵化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C9D0"/>
                </a:solidFill>
                <a:latin typeface="微软雅黑"/>
              </a:defRPr>
            </a:pPr>
            <a:r>
              <a:t>传统"编排层+工具层"二分架构，预定义流程无法适应动态任务需求，新增能力需修改编排逻辑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0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34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记忆薄弱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154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C9D0"/>
                </a:solidFill>
                <a:latin typeface="微软雅黑"/>
              </a:defRPr>
            </a:pPr>
            <a:r>
              <a:t>多数框架仅有简单上下文管理，缺乏长期记忆、知识图谱、元记忆的分层体系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4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协作缺失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43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C9D0"/>
                </a:solidFill>
                <a:latin typeface="微软雅黑"/>
              </a:defRPr>
            </a:pPr>
            <a:r>
              <a:t>多Agent协作停留在理论层面，缺少协议抽象、团队组建、自我修正等工程实现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37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落地困难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532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C9D0"/>
                </a:solidFill>
                <a:latin typeface="微软雅黑"/>
              </a:defRPr>
            </a:pPr>
            <a:r>
              <a:t>从原型到生产鸿沟巨大：缺少工作流引擎、可视化工具、安全沙箱、审计追踪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RAOS：统一 Skill 抽象的递归式智能体操作系统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677FF"/>
                </a:solidFill>
                <a:latin typeface="微软雅黑"/>
              </a:defRPr>
            </a:pPr>
            <a:r>
              <a:t>核心洞察："编排"本质上是一组特殊的、底层的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5C9D0"/>
                </a:solidFill>
                <a:latin typeface="微软雅黑"/>
              </a:defRPr>
            </a:pPr>
            <a:r>
              <a:t>通过将系统所有能力（包括传统意义上的编排逻辑）统一抽象为 Skill，并引入递归调用机制和可见性控制，</a:t>
            </a:r>
            <a:br/>
            <a:r>
              <a:t>实现一个既灵活又可靠的自适应系统。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474720" cy="320040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统一抽象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5C9D0"/>
                </a:solidFill>
                <a:latin typeface="微软雅黑"/>
              </a:defRPr>
            </a:pPr>
            <a:r>
              <a:t>一切可执行单元都是 Skill</a:t>
            </a:r>
            <a:br/>
            <a:r>
              <a:t>DAG 依赖关系自然分层</a:t>
            </a:r>
            <a:br/>
            <a:r>
              <a:t>可见性控制建立安全边界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926080"/>
            <a:ext cx="3474720" cy="320040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39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递归执行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6576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5C9D0"/>
                </a:solidFill>
                <a:latin typeface="微软雅黑"/>
              </a:defRPr>
            </a:pPr>
            <a:r>
              <a:t>AUTO_PRE / AUTO_POST 自动依赖</a:t>
            </a:r>
            <a:br/>
            <a:r>
              <a:t>深度限制 + 调用预算 + 超时保护</a:t>
            </a:r>
            <a:br/>
            <a:r>
              <a:t>WAL 预写日志实现崩溃恢复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926080"/>
            <a:ext cx="3474720" cy="320040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1089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自我进化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5C9D0"/>
                </a:solidFill>
                <a:latin typeface="微软雅黑"/>
              </a:defRPr>
            </a:pPr>
            <a:r>
              <a:t>skill_from_description 自动生成</a:t>
            </a:r>
            <a:br/>
            <a:r>
              <a:t>skill_optimizer 性能分析优化</a:t>
            </a:r>
            <a:br/>
            <a:r>
              <a:t>Canary 渐进部署 + 自动回滚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五大支柱架构：从智能到基础设施的全面覆盖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01168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237744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决策智能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Simple/ReAct/Team三级智能体</a:t>
            </a:r>
            <a:br/>
            <a:r>
              <a:t>7种协作协议+Orchestrator自动编排</a:t>
            </a:r>
            <a:br/>
            <a:r>
              <a:t>Reflection自我修正+动态团队组建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280160"/>
            <a:ext cx="3474720" cy="237744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记忆系统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19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STM短期记忆(LRU+TTL)</a:t>
            </a:r>
            <a:br/>
            <a:r>
              <a:t>LTM长期记忆(向量检索+持久化)</a:t>
            </a:r>
            <a:br/>
            <a:r>
              <a:t>知识图谱(Neo4j/MySQL双后端)</a:t>
            </a:r>
            <a:br/>
            <a:r>
              <a:t>元记忆(自动状态保存/垃圾回收)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474720" cy="237744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知识引擎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659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文档导入→分块→Embedding→图谱索引</a:t>
            </a:r>
            <a:br/>
            <a:r>
              <a:t>P3原生检索:查询分类器+混合检索+RRF</a:t>
            </a:r>
            <a:br/>
            <a:r>
              <a:t>LRU缓存+best-first BFS+社区检测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3474720" cy="237744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交互界面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Workflow/Skill/Form可视化设计器</a:t>
            </a:r>
            <a:br/>
            <a:r>
              <a:t>语音交互(STT/TTS)+自动播放</a:t>
            </a:r>
            <a:br/>
            <a:r>
              <a:t>13+页面移动端响应式适配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931920"/>
            <a:ext cx="3474720" cy="237744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19" y="4023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/>
              </a:defRPr>
            </a:pPr>
            <a:r>
              <a:t>基础设施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19" y="46177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Skill抽象(DAG+类型系统+WAL)</a:t>
            </a:r>
            <a:br/>
            <a:r>
              <a:t>权限体系(用户+角色+部门交叉)</a:t>
            </a:r>
            <a:br/>
            <a:r>
              <a:t>Worker沙箱+vm安全执行</a:t>
            </a:r>
            <a:br/>
            <a:r>
              <a:t>1204+测试通过,TS 0错误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六大核心差异化优势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64592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3152" cy="685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P3 知识图谱原生检索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查询分类器自动识别 factual/relational/discovery/hybrid 类型，relational查询自动使用图谱增强检索，三阶段融合（关键词0.4+语义0.6+图谱boost 1.5）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48839"/>
            <a:ext cx="73152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Reflection 自我修正模式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04871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ReAct Agent遇到工具错误、循环调用或不确定性时，自动暂停→LLM分析根因→生成修正策略→重试（最多3次），显著提升复杂任务成功率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73152" cy="685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动态团队组建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735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Expert Registry预注册8种专家角色（研究员/程序员/分析师/写手等），运行时根据任务分析自动选择2-4名专家和最优协作协议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886200"/>
            <a:ext cx="73152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可视化工具套件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4223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Workflow Designer（拖拽式流程设计）、Skill Editor（4标签页编辑器）、Form Designer（15+字段类型表单构建器），零代码降低使用门槛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79"/>
            <a:ext cx="73152" cy="685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生产级安全架构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1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vm.runInNewContext替代所有new Function()，Worker沙箱隔离执行，Capability-Based权限控制，SAGA补偿事务，熔断器三态保护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23560"/>
            <a:ext cx="73152" cy="685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微软雅黑"/>
              </a:defRPr>
            </a:pPr>
            <a:r>
              <a:t>全栈技术沉淀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795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后端：TypeScript严格模式+1204测试覆盖；前端：React 18+Ant Design 5；数据：SQLite/MySQL/Neo4j/Redis/Qdrant多后端支持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前端可视化工具套件：零代码降低 AI Agent 使用门槛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389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77FF"/>
                </a:solidFill>
                <a:latin typeface="微软雅黑"/>
              </a:defRPr>
            </a:pPr>
            <a:r>
              <a:t>Workflow Designer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  <a:latin typeface="微软雅黑"/>
              </a:defRPr>
            </a:pPr>
            <a:r>
              <a:t>流程设计器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拖拽式BPMN-like流程设计</a:t>
            </a:r>
            <a:br/>
            <a:r>
              <a:t>6种节点类型（Start/End/UserTask/ServiceTask/Gateway）</a:t>
            </a:r>
            <a:br/>
            <a:r>
              <a:t>属性配置面板 + JSON导入导出</a:t>
            </a:r>
            <a:br/>
            <a:r>
              <a:t>后端7个API端点支持CRUD+验证+测试运行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74720" cy="4389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77FF"/>
                </a:solidFill>
                <a:latin typeface="微软雅黑"/>
              </a:defRPr>
            </a:pPr>
            <a:r>
              <a:t>Skill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18745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  <a:latin typeface="微软雅黑"/>
              </a:defRPr>
            </a:pPr>
            <a:r>
              <a:t>Skill编辑器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22860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4标签页：基础信息/参数定义/Handler代码/测试执行</a:t>
            </a:r>
            <a:br/>
            <a:r>
              <a:t>内置代码编辑器 + 异步Handler模板</a:t>
            </a:r>
            <a:br/>
            <a:r>
              <a:t>参数表单自动生成 + 实时测试运行</a:t>
            </a:r>
            <a:br/>
            <a:r>
              <a:t>导入/导出JSON，支持Skill版本管理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74720" cy="4389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677FF"/>
                </a:solidFill>
                <a:latin typeface="微软雅黑"/>
              </a:defRPr>
            </a:pPr>
            <a:r>
              <a:t>Form 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874519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D4AA"/>
                </a:solidFill>
                <a:latin typeface="微软雅黑"/>
              </a:defRPr>
            </a:pPr>
            <a:r>
              <a:t>表单设计器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15+字段类型：文本/数字/选择/日期/文件/用户选择器等</a:t>
            </a:r>
            <a:br/>
            <a:r>
              <a:t>拖拽式画布 + 属性配置面板</a:t>
            </a:r>
            <a:br/>
            <a:r>
              <a:t>实时预览模式 + 条件逻辑</a:t>
            </a:r>
            <a:br/>
            <a:r>
              <a:t>与Form Engine深度集成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F98"/>
                </a:solidFill>
                <a:latin typeface="微软雅黑"/>
              </a:defRPr>
            </a:pPr>
            <a:r>
              <a:t>附加：语音交互（STT/TTS）· 移动端全适配（13+页面响应式）· 暗黑模式 · 国际化（中/英）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企业级安全与可靠性：从代码到生产的全链路保障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01168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代码安全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vm.runInNewContext 替代所有 new Function()（5处）</a:t>
            </a:r>
            <a:br/>
            <a:r>
              <a:t>Worker Thread 沙箱隔离执行，内存/CPU限制</a:t>
            </a:r>
            <a:br/>
            <a:r>
              <a:t>持续安全审计：npm run security:audit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权限控制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Capability-Based 声明式权限系统</a:t>
            </a:r>
            <a:br/>
            <a:r>
              <a:t>用户+角色+部门交叉控制，14个API资源</a:t>
            </a:r>
            <a:br/>
            <a:r>
              <a:t>动态Skill资源权限验证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861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事务保障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5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SAGA 补偿事务：失败时自动回滚已完成步骤</a:t>
            </a:r>
            <a:br/>
            <a:r>
              <a:t>WAL 预写日志：崩溃恢复 &lt; 1秒</a:t>
            </a:r>
            <a:br/>
            <a:r>
              <a:t>熔断器：CLOSED→OPEN→HALF_OPEN 三态保护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212080" cy="2103120"/>
          </a:xfrm>
          <a:prstGeom prst="roundRect">
            <a:avLst/>
          </a:prstGeom>
          <a:solidFill>
            <a:srgbClr val="121835"/>
          </a:solidFill>
          <a:ln>
            <a:solidFill>
              <a:srgbClr val="1E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19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质量保障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5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1204+ 测试通过，100%通过率</a:t>
            </a:r>
            <a:br/>
            <a:r>
              <a:t>TypeScript 严格模式，0类型错误</a:t>
            </a:r>
            <a:br/>
            <a:r>
              <a:t>21→108 测试文件，271→1204 测试用例（+344%）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" name="Rectangle 44"/>
          <p:cNvSpPr/>
          <p:nvPr/>
        </p:nvSpPr>
        <p:spPr>
          <a:xfrm>
            <a:off x="731520" y="5705856"/>
            <a:ext cx="10698480" cy="502920"/>
          </a:xfrm>
          <a:prstGeom prst="rect">
            <a:avLst/>
          </a:prstGeom>
          <a:solidFill>
            <a:srgbClr val="0E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138927"/>
            <a:ext cx="10698480" cy="502920"/>
          </a:xfrm>
          <a:prstGeom prst="rect">
            <a:avLst/>
          </a:prstGeom>
          <a:solidFill>
            <a:srgbClr val="12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572000"/>
            <a:ext cx="10698480" cy="502920"/>
          </a:xfrm>
          <a:prstGeom prst="rect">
            <a:avLst/>
          </a:prstGeom>
          <a:solidFill>
            <a:srgbClr val="0E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005072"/>
            <a:ext cx="10698480" cy="502920"/>
          </a:xfrm>
          <a:prstGeom prst="rect">
            <a:avLst/>
          </a:prstGeom>
          <a:solidFill>
            <a:srgbClr val="12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438144"/>
            <a:ext cx="10698480" cy="502920"/>
          </a:xfrm>
          <a:prstGeom prst="rect">
            <a:avLst/>
          </a:prstGeom>
          <a:solidFill>
            <a:srgbClr val="0E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2871215"/>
            <a:ext cx="10698480" cy="502920"/>
          </a:xfrm>
          <a:prstGeom prst="rect">
            <a:avLst/>
          </a:prstGeom>
          <a:solidFill>
            <a:srgbClr val="12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304288"/>
            <a:ext cx="10698480" cy="502920"/>
          </a:xfrm>
          <a:prstGeom prst="rect">
            <a:avLst/>
          </a:prstGeom>
          <a:solidFill>
            <a:srgbClr val="0E1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10698480" cy="502920"/>
          </a:xfrm>
          <a:prstGeom prst="rect">
            <a:avLst/>
          </a:prstGeom>
          <a:solidFill>
            <a:srgbClr val="12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竞品定位：RAOS vs OpenClaw vs Hermes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77FF"/>
                </a:solidFill>
                <a:latin typeface="微软雅黑"/>
              </a:defRPr>
            </a:pPr>
            <a:r>
              <a:t>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77FF"/>
                </a:solidFill>
                <a:latin typeface="微软雅黑"/>
              </a:defRPr>
            </a:pPr>
            <a:r>
              <a:t>RAOS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77FF"/>
                </a:solidFill>
                <a:latin typeface="微软雅黑"/>
              </a:defRPr>
            </a:pPr>
            <a:r>
              <a:t>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77FF"/>
                </a:solidFill>
                <a:latin typeface="微软雅黑"/>
              </a:defRPr>
            </a:pPr>
            <a:r>
              <a:t>Hermes 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10698480" cy="254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62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架构哲学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762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统一Skill递归抽象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62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Local-first即时可用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1762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自改进闭环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32968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记忆系统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329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四层：STM/LTM/KG/元记忆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2329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简单上下文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296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无专用记忆层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896615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知识检索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8966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图谱原生检索(P3)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8966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96615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635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多Agent协作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463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7种协议+动态团队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463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4635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基础协作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03047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工作流引擎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030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BPMN-like+可视化设计器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4030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40304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97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前端工具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59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Workflow/Skill/Form+语音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59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基础UI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597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164327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安全架构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516432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vm沙箱+Worker隔离+审计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516432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基础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164327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基础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731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生产就绪度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57312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微软雅黑"/>
              </a:defRPr>
            </a:pPr>
            <a:r>
              <a:t>1204测试+TypeScript严格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57312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社区驱动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73125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9D0"/>
                </a:solidFill>
                <a:latin typeface="微软雅黑"/>
              </a:defRPr>
            </a:pPr>
            <a:r>
              <a:t>实验性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A8F98"/>
                </a:solidFill>
                <a:latin typeface="微软雅黑"/>
              </a:defRPr>
            </a:pPr>
            <a:r>
              <a:t>RAOS 最佳定位："企业级 Agent 操作系统" — 在决策深度、记忆深度、知识检索、生产可靠性、权限安全方面领先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典型应用场景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37160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" cy="5486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22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企业知识库问答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基于知识图谱的文档检索，自动识别factual/relational查询类型，结合向量搜索和图遍历提供精准答案，支持多轮对话历史持久化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548640" cy="5486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82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317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智能工作流自动化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060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拖拽式流程设计器快速构建审批/采购/入职等业务流程，Service Task自动调用外部系统，Parallel Gateway并行处理提升效率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91840"/>
            <a:ext cx="548640" cy="5486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42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918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多Agent协作系统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566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动态团队组建根据任务自动选择专家组合，Reflection模式确保复杂任务自我修正，7种协议适配不同协作场景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51960"/>
            <a:ext cx="548640" cy="5486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02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519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Skill自助平台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业务人员通过Skill Editor零代码创建自定义Skill，Form Designer设计数据录入表单，全流程可视化无需开发介入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548640" cy="5486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62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212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智能客服与语音助手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4864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STT/TTS语音交互降低使用门槛，移动端适配支持随时随地访问，多语言国际化覆盖全球用户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产品路线图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9728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74850"/>
            <a:ext cx="1097280" cy="3200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0025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97485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7485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  <a:latin typeface="微软雅黑"/>
              </a:defRPr>
            </a:pPr>
            <a:r>
              <a:t>2026.04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7485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Skill自进化系统、四层记忆、多Agent协作、工作流引擎、权限体系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34970"/>
            <a:ext cx="1097280" cy="320040"/>
          </a:xfrm>
          <a:prstGeom prst="round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6037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已完成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93497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v1.1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93497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  <a:latin typeface="微软雅黑"/>
              </a:defRPr>
            </a:pPr>
            <a:r>
              <a:t>2026.04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93497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P3知识图谱检索、可视化工具套件、语音交互、移动端适配、Reflection、动态团队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95090"/>
            <a:ext cx="1097280" cy="32004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2049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/>
              </a:defRPr>
            </a:pPr>
            <a:r>
              <a:t>规划中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9509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v1.2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89509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98"/>
                </a:solidFill>
                <a:latin typeface="微软雅黑"/>
              </a:defRPr>
            </a:pPr>
            <a:r>
              <a:t>2026.Q2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89509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5C9D0"/>
                </a:solidFill>
                <a:latin typeface="微软雅黑"/>
              </a:defRPr>
            </a:pPr>
            <a:r>
              <a:t>Channels生态（Slack/Discord/企微）、Webhook接入、更多第三方集成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77FF"/>
                </a:solidFill>
                <a:latin typeface="微软雅黑"/>
              </a:defRPr>
            </a:pPr>
            <a:r>
              <a:t>目标：从"架构先进的实验系统"到"企业首选的Agent操作系统"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/>
              </a:defRPr>
            </a:pPr>
            <a:r>
              <a:t>为什么选择 RAOS？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645920" cy="50800"/>
          </a:xfrm>
          <a:prstGeom prst="rect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81785"/>
            <a:ext cx="457200" cy="45720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718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81785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不只是框架，是操作系统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01825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C9D0"/>
                </a:solidFill>
                <a:latin typeface="微软雅黑"/>
              </a:defRPr>
            </a:pPr>
            <a:r>
              <a:t>RAOS 不是又一个 Agent 框架，而是一套完整的企业级 Agent 操作系统。从底层 Skill 抽象到上层可视化工具，从安全沙箱到审计追踪，提供从开发到运维的全生命周期支撑。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99105"/>
            <a:ext cx="457200" cy="45720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2450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99105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经过验证的交付能力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319145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C9D0"/>
                </a:solidFill>
                <a:latin typeface="微软雅黑"/>
              </a:defRPr>
            </a:pPr>
            <a:r>
              <a:t>联鹏软件深耕企业数智化十余年，服务100+企业客户，覆盖25万+终端用户，通过 ISO 质量/信息安全/IT服务认证。RAOS 是这些经验的工程化结晶。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16425"/>
            <a:ext cx="457200" cy="457200"/>
          </a:xfrm>
          <a:prstGeom prst="ellipse">
            <a:avLst/>
          </a:prstGeom>
          <a:solidFill>
            <a:srgbClr val="16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441825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微软雅黑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416425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微软雅黑"/>
              </a:defRPr>
            </a:pPr>
            <a:r>
              <a:t>持续演进的长期承诺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36465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5C9D0"/>
                </a:solidFill>
                <a:latin typeface="微软雅黑"/>
              </a:defRPr>
            </a:pPr>
            <a:r>
              <a:t>从 v1.0 到 v2.0 的清晰路线图，涵盖 Channels 集成、性能优化、多模态等关键方向。选择 RAOS，意味着选择一个持续进化、与企业共同成长的平台。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1371600"/>
            <a:ext cx="3657600" cy="3657600"/>
          </a:xfrm>
          <a:prstGeom prst="ellipse">
            <a:avLst/>
          </a:prstGeom>
          <a:solidFill>
            <a:srgbClr val="3A7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微软雅黑"/>
              </a:defRPr>
            </a:pPr>
            <a:r>
              <a:t>RAOS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677FF"/>
                </a:solidFill>
                <a:latin typeface="微软雅黑"/>
              </a:defRPr>
            </a:pPr>
            <a:r>
              <a:rPr>
                <a:solidFill>
                  <a:schemeClr val="bg1"/>
                </a:solidFill>
              </a:rPr>
              <a:t>Recursive Agent Operating System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5C9D0"/>
                </a:solidFill>
                <a:latin typeface="微软雅黑"/>
              </a:defRPr>
            </a:pPr>
            <a:r>
              <a:t>企业级 AI Agent 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AA"/>
                </a:solidFill>
                <a:latin typeface="微软雅黑"/>
              </a:defRPr>
            </a:pPr>
            <a:r>
              <a:t>让 AI Agent 从原型走向生产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8F98"/>
                </a:solidFill>
                <a:latin typeface="微软雅黑"/>
              </a:defRPr>
            </a:pPr>
            <a:r>
              <a:t>联鹏应用软件（上海）有限公司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2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3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4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5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6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7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8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9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10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11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ags/tag12.xml><?xml version="1.0" encoding="utf-8"?>
<p:tagLst xmlns:p="http://schemas.openxmlformats.org/presentationml/2006/main">
  <p:tag name="KSO_WM_DIAGRAM_VIRTUALLY_FRAME" val="{&quot;height&quot;:352.8,&quot;left&quot;:57.6,&quot;top&quot;:136.8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3885</Words>
  <Application>WPS 演示</Application>
  <PresentationFormat>On-screen Show (4:3)</PresentationFormat>
  <Paragraphs>328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汉仪旗黑</vt:lpstr>
      <vt:lpstr>汉仪书宋二KW</vt:lpstr>
      <vt:lpstr>Calibri</vt:lpstr>
      <vt:lpstr>Helvetica Neue</vt:lpstr>
      <vt:lpstr>宋体</vt:lpstr>
      <vt:lpstr>微软雅黑</vt:lpstr>
      <vt:lpstr>Arial Unicode MS</vt:lpstr>
      <vt:lpstr>微软雅黑</vt:lpstr>
      <vt:lpstr>Wingdings</vt:lpstr>
      <vt:lpstr>苹方-简</vt:lpstr>
      <vt:lpstr>江城圆体 400W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刘錚</cp:lastModifiedBy>
  <cp:revision>8</cp:revision>
  <dcterms:created xsi:type="dcterms:W3CDTF">2026-04-29T09:17:10Z</dcterms:created>
  <dcterms:modified xsi:type="dcterms:W3CDTF">2026-04-29T09:17:10Z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D17B5F5EA1880C9F35CAF169B7837D32_42</vt:lpwstr>
  </property>
</Properties>
</file>